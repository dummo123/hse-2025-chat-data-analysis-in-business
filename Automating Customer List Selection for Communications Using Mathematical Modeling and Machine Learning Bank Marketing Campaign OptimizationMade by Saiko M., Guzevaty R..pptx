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  <p:sldId id="272" r:id="rId16"/>
    <p:sldId id="273" r:id="rId17"/>
    <p:sldId id="274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19" y="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43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0722" y="1371600"/>
            <a:ext cx="674255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Automating Customer List Selection for Communications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00722" y="2476500"/>
            <a:ext cx="6742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Mathematical Modeling and Machine Learning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0722" y="3124200"/>
            <a:ext cx="6742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Marketing Campaign Optimization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00722" y="3467100"/>
            <a:ext cx="6742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December 2025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10ACAFF-20B8-FE51-88D2-D0CEF9F67642}"/>
              </a:ext>
            </a:extLst>
          </p:cNvPr>
          <p:cNvSpPr/>
          <p:nvPr/>
        </p:nvSpPr>
        <p:spPr>
          <a:xfrm>
            <a:off x="1200722" y="3934392"/>
            <a:ext cx="6742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Made by: Saiko M., </a:t>
            </a:r>
            <a:r>
              <a:rPr lang="en-US" sz="15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Guzevaty</a:t>
            </a: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Goal &amp; Objectives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525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77190" y="13716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and optimize customer lists for communication based on contact history, using machine learning predictive models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1000" y="1828800"/>
            <a:ext cx="8382000" cy="2457450"/>
          </a:xfrm>
          <a:prstGeom prst="roundRect">
            <a:avLst>
              <a:gd name="adj" fmla="val 3101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9600" y="2019300"/>
            <a:ext cx="40707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600" y="247650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Exploratory data analysis and comprehensive data preparation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9600" y="276225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Feature engineering: creating transactional and demographic indicators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600" y="304800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Data preprocessing: handling missing values, outliers, and categorical encoding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9600" y="333375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Training and evaluation of </a:t>
            </a:r>
            <a:r>
              <a:rPr lang="ru-RU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ML models for two target variables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9600" y="361950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Feature importance analysis to identify key drivers of customer response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9600" y="390525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Generate predictions for test dataset with optimized models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1000" y="475297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set: 985,477 customers | Test set: 63,098 customers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71214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Preprocessing &amp; Feature Engineering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57288"/>
            <a:ext cx="4114800" cy="1104900"/>
          </a:xfrm>
          <a:prstGeom prst="roundRect">
            <a:avLst>
              <a:gd name="adj" fmla="val 517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925" y="12906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925" y="15954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Imputed Age &amp; Lifetime with median values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2925" y="17859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missing indicators (Age_missing, etc.)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2925" y="19764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features filled with mode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376488"/>
            <a:ext cx="4114800" cy="914400"/>
          </a:xfrm>
          <a:prstGeom prst="roundRect">
            <a:avLst>
              <a:gd name="adj" fmla="val 6250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2925" y="25098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Outlier Treatment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2925" y="28146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Winsorization at 1st and 99th percentiles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2925" y="30051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Applied to: Age, Lifetime, Income, transaction features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405188"/>
            <a:ext cx="4114800" cy="91440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2925" y="35385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Categorical Encoding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2925" y="38433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mapping: Yes/No → 1/0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2925" y="4033837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One-Hot Encoding: Region, Gender, Segment, Age_group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8200" y="1119188"/>
            <a:ext cx="4114800" cy="1295400"/>
          </a:xfrm>
          <a:prstGeom prst="roundRect">
            <a:avLst>
              <a:gd name="adj" fmla="val 4412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5" y="12525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Features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0125" y="15573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trans_mean</a:t>
            </a: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Average across 6/9/12 months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0125" y="17478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trans_std</a:t>
            </a: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Transaction variability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10125" y="1938337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trans_9_to_6_ratio</a:t>
            </a: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Growth rate indicator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0125" y="21288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trans_growth</a:t>
            </a: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12-month vs 6-month change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48200" y="2528888"/>
            <a:ext cx="4114800" cy="91440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10125" y="2662238"/>
            <a:ext cx="3895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 Interactions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0125" y="29670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Age_Income</a:t>
            </a: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Multiplicative interaction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10125" y="3157538"/>
            <a:ext cx="38959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Income_per_Age</a:t>
            </a: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Normalized income metric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48200" y="3557588"/>
            <a:ext cx="4114800" cy="800100"/>
          </a:xfrm>
          <a:prstGeom prst="roundRect">
            <a:avLst>
              <a:gd name="adj" fmla="val 714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19477" y="3690937"/>
            <a:ext cx="19722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r>
              <a:rPr lang="ru-RU" sz="2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r>
              <a:rPr lang="en-US" sz="2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Features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4743069" y="4071938"/>
            <a:ext cx="3925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modeling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1000" y="475297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preprocessing automated in improved_clean_data() function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Training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4114800" cy="1562100"/>
          </a:xfrm>
          <a:prstGeom prst="roundRect">
            <a:avLst>
              <a:gd name="adj" fmla="val 487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162050"/>
            <a:ext cx="19333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Variables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2450" y="1543050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Target1: Marketing Response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2450" y="1752600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24.7% positive class | Email/Phone indicator prediction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2450" y="1981200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Target2: Secondary Conversion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2450" y="2190750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8.6% positive class | Highly imbalanced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8200" y="1019175"/>
            <a:ext cx="4114800" cy="1428750"/>
          </a:xfrm>
          <a:prstGeom prst="roundRect">
            <a:avLst>
              <a:gd name="adj" fmla="val 5333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9650" y="1228725"/>
            <a:ext cx="19333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Split</a:t>
            </a:r>
            <a:endParaRPr lang="en-US" sz="15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19650" y="160972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Training: 985,477 samples (100%)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19650" y="185737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(the internal split between training and validation is 80 to 20)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9650" y="220154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Stratified sampling to preserve class balance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2705100"/>
            <a:ext cx="8382000" cy="2114550"/>
          </a:xfrm>
          <a:prstGeom prst="roundRect">
            <a:avLst>
              <a:gd name="adj" fmla="val 3604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289560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Portfolio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1500" y="32956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1500" y="352425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linear model with StandardScaler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" y="377190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1500" y="400050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Ensemble bagging, 100 estimators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" y="42481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1500" y="447675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 boosting with scale_pos_weight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9150" y="32956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29150" y="352425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gradient boosting, auto class weights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29150" y="377190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 Boosting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29150" y="400050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Sklearn ensemble with subsample=0.8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29150" y="42481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CatBoost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29150" y="4476750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Categorical-aware boosting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1000" y="488632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models use class balancing strategies | Evaluation metrics: ROC-AUC, Accuracy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623735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Target1 Results: Marketing Response</a:t>
            </a:r>
            <a:endParaRPr lang="en-US" sz="2700" dirty="0"/>
          </a:p>
        </p:txBody>
      </p:sp>
      <p:pic>
        <p:nvPicPr>
          <p:cNvPr id="3" name="Image 0" descr="/tmp/rasterized-gradient-662797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723900"/>
            <a:ext cx="3048000" cy="99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4830" y="9144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35174" y="1181100"/>
            <a:ext cx="2539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 Boosting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81000" y="1971675"/>
            <a:ext cx="3048000" cy="83820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1500" y="212407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ROC-AUC Score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2314575"/>
            <a:ext cx="2759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0.9373 AUC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381000" y="3076575"/>
            <a:ext cx="3048000" cy="8382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1500" y="322897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" y="3419475"/>
            <a:ext cx="2759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90.52%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381000" y="4181475"/>
            <a:ext cx="3048000" cy="571500"/>
          </a:xfrm>
          <a:prstGeom prst="roundRect">
            <a:avLst>
              <a:gd name="adj" fmla="val 10000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5300" y="4295775"/>
            <a:ext cx="2875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Overfitting detected</a:t>
            </a:r>
            <a:endParaRPr lang="en-US" sz="9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5300" y="4486275"/>
            <a:ext cx="2875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Train-val gap: -0.0001 gap</a:t>
            </a:r>
            <a:endParaRPr lang="en-US" sz="900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EAD27DBF-3918-2516-9E77-260DC71E4E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9" r="49881"/>
          <a:stretch>
            <a:fillRect/>
          </a:stretch>
        </p:blipFill>
        <p:spPr bwMode="auto">
          <a:xfrm>
            <a:off x="3519344" y="742949"/>
            <a:ext cx="5411296" cy="399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66259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Target2 Results: Secondary Conversion</a:t>
            </a:r>
            <a:endParaRPr lang="en-US" sz="2700" dirty="0"/>
          </a:p>
        </p:txBody>
      </p:sp>
      <p:pic>
        <p:nvPicPr>
          <p:cNvPr id="3" name="Image 0" descr="/tmp/rasterized-gradient-75546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762000"/>
            <a:ext cx="3048000" cy="99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4830" y="9525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5908" y="1238250"/>
            <a:ext cx="24781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 Boosting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81000" y="1876425"/>
            <a:ext cx="3048000" cy="102870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1500" y="202882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ROC-AUC Score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2219325"/>
            <a:ext cx="2759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0.980 AUC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571500" y="260032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Outstanding discrimination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1000" y="3171825"/>
            <a:ext cx="3048000" cy="8382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1500" y="3324225"/>
            <a:ext cx="2759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" y="3514725"/>
            <a:ext cx="2759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97%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381000" y="4276725"/>
            <a:ext cx="3048000" cy="5715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5300" y="4391025"/>
            <a:ext cx="2875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Highly Imbalanced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5300" y="4581525"/>
            <a:ext cx="2875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8.6% positive class</a:t>
            </a:r>
            <a:endParaRPr lang="en-US" sz="900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BD91D545-1ED4-29F1-F8A9-2095E2E84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42" t="9778"/>
          <a:stretch>
            <a:fillRect/>
          </a:stretch>
        </p:blipFill>
        <p:spPr bwMode="auto">
          <a:xfrm>
            <a:off x="3817650" y="757600"/>
            <a:ext cx="5352600" cy="38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7703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Importance Analysis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475297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 Transaction recency (amont_day_from) and frequency (trans_3_month) are the strongest predictors</a:t>
            </a:r>
            <a:endParaRPr lang="en-US" sz="900" dirty="0"/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1466B3CD-5108-4161-BC1F-EAAF4ED5B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63330"/>
            <a:ext cx="6119446" cy="361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Predictive Features</a:t>
            </a:r>
            <a:endParaRPr lang="en-US" sz="27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61E80EB-80E0-9FDA-4BCE-50A557D88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928" y="647700"/>
            <a:ext cx="5268167" cy="435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Рисунок 46" descr="Изображение выглядит как текст, снимок экрана, меню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203359-6903-B45E-FC5C-220E5AE2F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638816"/>
            <a:ext cx="1981791" cy="4237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Set Predictions</a:t>
            </a:r>
            <a:endParaRPr lang="en-US" sz="2700" dirty="0"/>
          </a:p>
        </p:txBody>
      </p:sp>
      <p:pic>
        <p:nvPicPr>
          <p:cNvPr id="3" name="Image 0" descr="/tmp/rasterized-gradient-a988ae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647700"/>
            <a:ext cx="4095750" cy="1752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 1"/>
          <p:cNvSpPr/>
          <p:nvPr/>
        </p:nvSpPr>
        <p:spPr>
          <a:xfrm>
            <a:off x="573215" y="876300"/>
            <a:ext cx="3711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Target1 Threshold: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96187" y="11430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9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20.25%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73209" y="1714500"/>
            <a:ext cx="583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608388" y="1809750"/>
            <a:ext cx="71317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15780 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472633" y="2019300"/>
            <a:ext cx="713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468777" y="1809750"/>
            <a:ext cx="71703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47318</a:t>
            </a:r>
            <a:endParaRPr lang="en-US" sz="1800" dirty="0"/>
          </a:p>
        </p:txBody>
      </p:sp>
      <p:pic>
        <p:nvPicPr>
          <p:cNvPr id="10" name="Image 1" descr="/tmp/rasterized-gradient-267cf3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748" y="619125"/>
            <a:ext cx="4095750" cy="1752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04963" y="847725"/>
            <a:ext cx="3711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Target2 Predictions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927935" y="1114425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9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0.7%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6301546" y="1685925"/>
            <a:ext cx="1902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040062" y="1833562"/>
            <a:ext cx="713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5852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711500" y="1685925"/>
            <a:ext cx="713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711500" y="1843659"/>
            <a:ext cx="7131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57246</a:t>
            </a:r>
            <a:endParaRPr lang="en-US" sz="18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A806239-ABDC-300D-6470-C8E7014BF318}"/>
              </a:ext>
            </a:extLst>
          </p:cNvPr>
          <p:cNvSpPr/>
          <p:nvPr/>
        </p:nvSpPr>
        <p:spPr>
          <a:xfrm>
            <a:off x="1604532" y="2024634"/>
            <a:ext cx="713177" cy="347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25.0%</a:t>
            </a:r>
            <a:endParaRPr lang="en-US" sz="18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80F43837-38B8-B03C-EE88-C8E09A7234E7}"/>
              </a:ext>
            </a:extLst>
          </p:cNvPr>
          <p:cNvSpPr/>
          <p:nvPr/>
        </p:nvSpPr>
        <p:spPr>
          <a:xfrm>
            <a:off x="6050282" y="2071687"/>
            <a:ext cx="713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9.3%</a:t>
            </a:r>
            <a:endParaRPr lang="en-US" sz="1800" dirty="0"/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092BC700-6794-B68F-005A-9DB963B17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965" y="2409825"/>
            <a:ext cx="7235142" cy="267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3629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Implementation Highlights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8382000" cy="8382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10490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Data Pipeline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144780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improved_clean_data() handles all preprocessing | Separate train/test processing with feature alignment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924050"/>
            <a:ext cx="8382000" cy="838200"/>
          </a:xfrm>
          <a:prstGeom prst="roundRect">
            <a:avLst>
              <a:gd name="adj" fmla="val 9091"/>
            </a:avLst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207645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Training &amp; Evaluation</a:t>
            </a:r>
            <a:endParaRPr lang="en-US" sz="13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71500" y="241935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train_and_evaluate_models() trains 6 algorithms | Automatic hyperparameters and overfitting detection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2895600"/>
            <a:ext cx="8382000" cy="83820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304800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Imbalance Strategies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71500" y="339090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class_weight='balanced' for tree models | XGBoost with dynamic scale_pos_weight based on distribution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3867150"/>
            <a:ext cx="8382000" cy="876300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2450" y="403860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Model Selection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2450" y="438150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selection based on ROC-AUC score | Complete model metadata stored (scaler, metrics, predictions)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7571" y="48387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code modular and reusable | Libraries: sklearn, xgboost, lightgbm, catboost | Python 3.12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4309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Summary &amp; Conclusions</a:t>
            </a:r>
            <a:endParaRPr lang="en-US" sz="2700" dirty="0"/>
          </a:p>
        </p:txBody>
      </p:sp>
      <p:pic>
        <p:nvPicPr>
          <p:cNvPr id="3" name="Image 0" descr="/tmp/rasterized-gradient-a0ae5b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52500"/>
            <a:ext cx="264155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314" y="1143000"/>
            <a:ext cx="16127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 Achieved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6449" y="1457325"/>
            <a:ext cx="23057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code available | Reproducible results | Ready for integration into business processes</a:t>
            </a:r>
          </a:p>
        </p:txBody>
      </p:sp>
      <p:sp>
        <p:nvSpPr>
          <p:cNvPr id="6" name="Text 3"/>
          <p:cNvSpPr/>
          <p:nvPr/>
        </p:nvSpPr>
        <p:spPr>
          <a:xfrm>
            <a:off x="3213050" y="1047750"/>
            <a:ext cx="2679650" cy="952500"/>
          </a:xfrm>
          <a:prstGeom prst="roundRect">
            <a:avLst>
              <a:gd name="adj" fmla="val 10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974729" y="1257300"/>
            <a:ext cx="1156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985K+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399995" y="1638300"/>
            <a:ext cx="2305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samples processed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3201" y="1047750"/>
            <a:ext cx="2679650" cy="952500"/>
          </a:xfrm>
          <a:prstGeom prst="roundRect">
            <a:avLst>
              <a:gd name="adj" fmla="val 10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44879" y="1257300"/>
            <a:ext cx="1156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270145" y="1638300"/>
            <a:ext cx="2305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features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1000" y="2266950"/>
            <a:ext cx="8382000" cy="129540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2419350"/>
            <a:ext cx="8199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Accomplishments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1500" y="274320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preprocessing pipeline | Six ML algorithms trained and evaluated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2981325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models: Random Forest (Target1, 0.944 AUC) and XGBoost (Target2, 0.981 AUC)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1500" y="321945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importance analysis | Test predictions with probability scores generated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81000" y="3676650"/>
            <a:ext cx="4133850" cy="1066800"/>
          </a:xfrm>
          <a:prstGeom prst="roundRect">
            <a:avLst>
              <a:gd name="adj" fmla="val 7143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52450" y="3810000"/>
            <a:ext cx="39056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10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2450" y="40767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top 6% most likely responders for Target1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2450" y="42672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marketing costs by targeting high-probability customers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2450" y="44577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personalized communication strategies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29150" y="3676650"/>
            <a:ext cx="4133850" cy="1066800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00600" y="3810000"/>
            <a:ext cx="39056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00600" y="40767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 probability thresholds based on business objectives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00600" y="42672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A/B testing for model validation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0600" y="4457700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monitoring pipeline for model drift detection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3C628D-4979-6568-7722-2A4734FC3D5F}"/>
              </a:ext>
            </a:extLst>
          </p:cNvPr>
          <p:cNvSpPr txBox="1"/>
          <p:nvPr/>
        </p:nvSpPr>
        <p:spPr>
          <a:xfrm>
            <a:off x="238125" y="285750"/>
            <a:ext cx="8524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Synopsis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E1D8C2-DA35-3A03-85BC-F0B3815E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9271"/>
            <a:ext cx="9144000" cy="326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51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C7C715-1D02-64E9-7278-6F91B70FC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86" y="0"/>
            <a:ext cx="866242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96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8FD520-C74D-D897-AF87-30A9925F4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588" y="0"/>
            <a:ext cx="58128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26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2ECAEC-D1C6-957D-9E1E-9C027443E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10" y="0"/>
            <a:ext cx="86693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68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E29942-ED51-DD16-8299-71BD7681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78" y="0"/>
            <a:ext cx="6967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17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5F5A22-3077-73F4-5FA3-B9279CFC8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1" y="354325"/>
            <a:ext cx="8961138" cy="443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55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E33677-4E2C-6137-FC05-E711E2472B28}"/>
              </a:ext>
            </a:extLst>
          </p:cNvPr>
          <p:cNvSpPr txBox="1"/>
          <p:nvPr/>
        </p:nvSpPr>
        <p:spPr>
          <a:xfrm>
            <a:off x="1176337" y="2110085"/>
            <a:ext cx="6791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You!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428872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729</Words>
  <Application>Microsoft Office PowerPoint</Application>
  <PresentationFormat>Экран (16:9)</PresentationFormat>
  <Paragraphs>141</Paragraphs>
  <Slides>18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List Selection Automation</dc:title>
  <dc:subject>Machine Learning for Marketing</dc:subject>
  <dc:creator>Bank Marketing Team</dc:creator>
  <cp:lastModifiedBy>Максим Сайко</cp:lastModifiedBy>
  <cp:revision>5</cp:revision>
  <dcterms:created xsi:type="dcterms:W3CDTF">2025-12-18T17:28:32Z</dcterms:created>
  <dcterms:modified xsi:type="dcterms:W3CDTF">2025-12-26T19:39:23Z</dcterms:modified>
</cp:coreProperties>
</file>